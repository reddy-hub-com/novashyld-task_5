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777240" y="1234440"/>
            <a:ext cx="1417320" cy="1600200"/>
          </a:xfrm>
          <a:prstGeom prst="hexagon">
            <a:avLst/>
          </a:prstGeom>
          <a:solidFill>
            <a:srgbClr val="1C68AC"/>
          </a:solidFill>
          <a:ln>
            <a:solidFill>
              <a:srgbClr val="2C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VAPT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1430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t>Task 5 — Advanced VAPT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2032" y="233172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B8C6"/>
                </a:solidFill>
                <a:latin typeface="Aptos"/>
              </a:defRPr>
            </a:pPr>
            <a:r>
              <a:t>End-to-end Vulnerability Assessment &amp; Penetration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30632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NovaShyld Technologies</a:t>
            </a:r>
          </a:p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Cybersecurity Analyst Internship Program</a:t>
            </a:r>
          </a:p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Authorized isolated laboratory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50749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Target: Metasploitable2  |  192.168.195.133  |  VMware 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3A3A"/>
                </a:solidFill>
                <a:latin typeface="Aptos Display"/>
              </a:defRPr>
            </a:pPr>
            <a:r>
              <a:t>9.8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CVSS v3.1 — 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2A037"/>
                </a:solidFill>
                <a:latin typeface="Aptos Display"/>
              </a:defRPr>
            </a:pPr>
            <a:r>
              <a:t>CVE-2011-2523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Primary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6915D"/>
                </a:solidFill>
                <a:latin typeface="Aptos Display"/>
              </a:defRPr>
            </a:pPr>
            <a:r>
              <a:t>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Validated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B8C6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Required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Assessment performed against Metasploitable2 from Kali Linux in an authorized isolated laboratory.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Nmap identified exposed services and multiple scanner-detected weaknesses.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primary finding was the vsFTPd 2.3.4 backdoor, successfully validated with Metasploit.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resulting Meterpreter session was verified with getuid and returned root.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Remediation and retesting recommendations were documented in the final VAPT report.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Scope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74519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874519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Metasploitable2 at 192.168.195.133</a:t>
            </a:r>
            <a:br/>
            <a:r>
              <a:t>Connectivity, port/service discovery, Nmap vulnerability scripts, controlled Metasploit validation, post-exploitation verification, CVSS assessment and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74720" cy="1874519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73152" cy="1874519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Production systems and unrelated hosts</a:t>
            </a:r>
            <a:br/>
            <a:r>
              <a:t>Denial-of-service</a:t>
            </a:r>
            <a:br/>
            <a:r>
              <a:t>Destructive actions</a:t>
            </a:r>
            <a:br/>
            <a:r>
              <a:t>Persistence</a:t>
            </a:r>
            <a:br/>
            <a:r>
              <a:t>Data exfiltration</a:t>
            </a:r>
            <a:br/>
            <a:r>
              <a:t>Unapproved lateral movement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474720" cy="1874519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874519"/>
          </a:xfrm>
          <a:prstGeom prst="rect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Confirm reachability</a:t>
            </a:r>
            <a:br/>
            <a:r>
              <a:t>Identify exposed services</a:t>
            </a:r>
            <a:br/>
            <a:r>
              <a:t>Identify known vulnerabilities</a:t>
            </a:r>
            <a:br/>
            <a:r>
              <a:t>Validate a selected finding</a:t>
            </a:r>
            <a:br/>
            <a:r>
              <a:t>Verify access level</a:t>
            </a:r>
            <a:br/>
            <a:r>
              <a:t>Assess impact</a:t>
            </a:r>
            <a:br/>
            <a:r>
              <a:t>Recommend remediation and retesting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Authorization boundary: the intentionally vulnerable training target only.</a:t>
            </a:r>
          </a:p>
          <a:p>
            <a:pPr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Assessment results should not be interpreted as a production security assessment.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834640" cy="1828800"/>
          </a:xfrm>
          <a:prstGeom prst="roundRect">
            <a:avLst/>
          </a:prstGeom>
          <a:solidFill>
            <a:srgbClr val="141D2A"/>
          </a:solidFill>
          <a:ln>
            <a:solidFill>
              <a:srgbClr val="2C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  <a:latin typeface="Aptos Display"/>
              </a:defRPr>
            </a:pPr>
            <a:r>
              <a:t>Kali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1BFCF"/>
                </a:solidFill>
                <a:latin typeface="Aptos"/>
              </a:defRPr>
            </a:pPr>
            <a:r>
              <a:t>Assessment workstation</a:t>
            </a:r>
          </a:p>
          <a:p>
            <a:pPr algn="ctr">
              <a:defRPr sz="1400" b="1">
                <a:solidFill>
                  <a:srgbClr val="2CB8C6"/>
                </a:solidFill>
                <a:latin typeface="Aptos"/>
              </a:defRPr>
            </a:pPr>
            <a:r>
              <a:t>Kali 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920240"/>
            <a:ext cx="2834640" cy="1828800"/>
          </a:xfrm>
          <a:prstGeom prst="roundRect">
            <a:avLst/>
          </a:prstGeom>
          <a:solidFill>
            <a:srgbClr val="141D2A"/>
          </a:solidFill>
          <a:ln>
            <a:solidFill>
              <a:srgbClr val="C4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14884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  <a:latin typeface="Aptos Display"/>
              </a:defRPr>
            </a:pPr>
            <a:r>
              <a:t>Metasploitable2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97480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1BFCF"/>
                </a:solidFill>
                <a:latin typeface="Aptos"/>
              </a:defRPr>
            </a:pPr>
            <a:r>
              <a:t>Intentionally vulnerable target</a:t>
            </a:r>
          </a:p>
          <a:p>
            <a:pPr algn="ctr">
              <a:defRPr sz="1400" b="1">
                <a:solidFill>
                  <a:srgbClr val="C43A3A"/>
                </a:solidFill>
                <a:latin typeface="Aptos"/>
              </a:defRPr>
            </a:pPr>
            <a:r>
              <a:t>192.168.195.133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6200" y="2487168"/>
            <a:ext cx="3840480" cy="640080"/>
          </a:xfrm>
          <a:prstGeom prst="rightArrow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1821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1BFCF"/>
                </a:solidFill>
                <a:latin typeface="Aptos"/>
              </a:defRPr>
            </a:pPr>
            <a:r>
              <a:t>Isolated VMware laboratory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617720"/>
            <a:ext cx="6309360" cy="91440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4617720"/>
            <a:ext cx="73152" cy="91440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4782312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ASSESSMENT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5276088"/>
            <a:ext cx="5943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Only the authorized Metasploitable2 target was assessed.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VAPT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143000"/>
            <a:ext cx="438912" cy="438912"/>
          </a:xfrm>
          <a:prstGeom prst="ellipse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216152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2471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2471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Ping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856232"/>
            <a:ext cx="438912" cy="438912"/>
          </a:xfrm>
          <a:prstGeom prst="ellipse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29384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3794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Reconnaissance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37944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Nmap -A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569464"/>
            <a:ext cx="438912" cy="438912"/>
          </a:xfrm>
          <a:prstGeom prst="ellipse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642616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51176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Vulnerability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51176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Nmap --script vuln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282696"/>
            <a:ext cx="438912" cy="438912"/>
          </a:xfrm>
          <a:prstGeom prst="ellipse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355848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6440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Exploitation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6440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Metasploit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3995928"/>
            <a:ext cx="438912" cy="438912"/>
          </a:xfrm>
          <a:prstGeom prst="ellipse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06908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776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Post-Exploitation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7764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getuid / sysinfo / pwd / ls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709160"/>
            <a:ext cx="438912" cy="438912"/>
          </a:xfrm>
          <a:prstGeom prst="ellipse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782312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69087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69087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CVSS v3.1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422392"/>
            <a:ext cx="438912" cy="438912"/>
          </a:xfrm>
          <a:prstGeom prst="ellipse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495544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404104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</a:defRPr>
            </a:pPr>
            <a: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404104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BFCF"/>
                </a:solidFill>
              </a:defRPr>
            </a:pPr>
            <a:r>
              <a:t>Findings + remediation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Reconnaissance &amp; Enumeration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14173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417320"/>
          </a:xfrm>
          <a:prstGeom prst="rect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PRIMARY NMAP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49377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nmap -A 192.168.195.133</a:t>
            </a:r>
            <a:br/>
            <a:r>
              <a:t>Comprehensive service/version and OS-oriented enumeration.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257800" cy="14173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73152" cy="141732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533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SAVED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4708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nmap -A 192.168.195.133 -oN task5_nmap_scan.txt</a:t>
            </a:r>
            <a:br/>
            <a:r>
              <a:t>Preserves the scan result for evidence and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303520" cy="1965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73152" cy="196596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363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WHAT WAS INVESTIGATED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30168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• Reachable target</a:t>
            </a:r>
            <a:br/>
            <a:r>
              <a:t>• Open TCP ports</a:t>
            </a:r>
            <a:br/>
            <a:r>
              <a:t>• Exposed services</a:t>
            </a:r>
            <a:br/>
            <a:r>
              <a:t>• Service/version information</a:t>
            </a:r>
            <a:br/>
            <a:r>
              <a:t>• Potential attack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257800" cy="1965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196596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1363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3016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Enumeration establishes what the target exposes before selecting vulnerabilities for deeper validation. An open port alone is not proof of a vulnerability.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Vulnerability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13258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VULNERABILITY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8"/>
            <a:ext cx="49377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nmap --script vuln 192.168.195.133 -oN task5_vuln_scan.txt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13258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3152" cy="1325880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9903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PRIMARY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8"/>
            <a:ext cx="4892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1BFCF"/>
                </a:solidFill>
                <a:latin typeface="Aptos"/>
              </a:defRPr>
            </a:pPr>
            <a:r>
              <a:t>vsFTPd 2.3.4 backdoor — CVE-2011-2523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Additional scanner-detected weaknesses included SSL POODLE, weak Diffie-Hellman parameters, Logjam-related weaknesses, OpenSSL CCS Injection, an UnrealIRCd backdoor indication and an RMI registry configuration issue.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These additional findings are documented as detected findings only unless separate exploitation evidence exists.</a:t>
            </a:r>
          </a:p>
          <a:p>
            <a:pPr>
              <a:spcAft>
                <a:spcPts val="11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Only the vsFTPd vulnerability is classified as successfully exploited in the supplied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Primary Finding — vsFTPd 2.3.4 Backdoor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3A3A"/>
                </a:solidFill>
                <a:latin typeface="Aptos Display"/>
              </a:defRPr>
            </a:pPr>
            <a:r>
              <a:t>CVE-2011-2523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Vulnerability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3A3A"/>
                </a:solidFill>
                <a:latin typeface="Aptos Display"/>
              </a:defRPr>
            </a:pPr>
            <a:r>
              <a:t>9.8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CVSS v3.1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3A3A"/>
                </a:solidFill>
                <a:latin typeface="Aptos Display"/>
              </a:defRPr>
            </a:pPr>
            <a: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234440"/>
            <a:ext cx="2240280" cy="11887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7" y="1344168"/>
            <a:ext cx="2011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6915D"/>
                </a:solidFill>
                <a:latin typeface="Aptos Display"/>
              </a:defRPr>
            </a:pPr>
            <a:r>
              <a:t>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7" y="1892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1BFCF"/>
                </a:solidFill>
                <a:latin typeface="Aptos"/>
              </a:defRPr>
            </a:pPr>
            <a:r>
              <a:t>Validated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26080"/>
            <a:ext cx="10287000" cy="205740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26080"/>
            <a:ext cx="73152" cy="2057400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090672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FINDING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584448"/>
            <a:ext cx="9921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Nmap identified vsFTPd 2.3.4 as vulnerable. The finding was subsequently validated using the Metasploit vsftpd_234_backdoor module. Successful validation established a Meterpreter session, and getuid returned “Server username: root,” demonstrating root-level compromise of the authorized laboratory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Controlled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920240" cy="2286000"/>
          </a:xfrm>
          <a:prstGeom prst="roundRect">
            <a:avLst/>
          </a:prstGeom>
          <a:solidFill>
            <a:srgbClr val="141D2A"/>
          </a:solidFill>
          <a:ln>
            <a:solidFill>
              <a:srgbClr val="2C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1. Select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1BFCF"/>
                </a:solidFill>
              </a:defRPr>
            </a:pPr>
            <a:r>
              <a:t>exploit/unix/ftp/vsftpd_234_backdoor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920240" cy="2286000"/>
          </a:xfrm>
          <a:prstGeom prst="roundRect">
            <a:avLst/>
          </a:prstGeom>
          <a:solidFill>
            <a:srgbClr val="141D2A"/>
          </a:solidFill>
          <a:ln>
            <a:solidFill>
              <a:srgbClr val="1C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0574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2. Configure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743200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1BFCF"/>
                </a:solidFill>
              </a:defRPr>
            </a:pPr>
            <a:r>
              <a:t>set RHOSTS 192.168.195.133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1920240" cy="2286000"/>
          </a:xfrm>
          <a:prstGeom prst="roundRect">
            <a:avLst/>
          </a:prstGeom>
          <a:solidFill>
            <a:srgbClr val="141D2A"/>
          </a:solidFill>
          <a:ln>
            <a:solidFill>
              <a:srgbClr val="D2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0574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3.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743200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1BFCF"/>
                </a:solidFill>
              </a:defRPr>
            </a:pPr>
            <a:r>
              <a:t>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28800"/>
            <a:ext cx="1920240" cy="2286000"/>
          </a:xfrm>
          <a:prstGeom prst="roundRect">
            <a:avLst/>
          </a:prstGeom>
          <a:solidFill>
            <a:srgbClr val="141D2A"/>
          </a:solidFill>
          <a:ln>
            <a:solidFill>
              <a:srgbClr val="C4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20574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4.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743200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1BFCF"/>
                </a:solidFill>
              </a:defRPr>
            </a:pPr>
            <a:r>
              <a:t>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828800"/>
            <a:ext cx="1920240" cy="2286000"/>
          </a:xfrm>
          <a:prstGeom prst="roundRect">
            <a:avLst/>
          </a:prstGeom>
          <a:solidFill>
            <a:srgbClr val="141D2A"/>
          </a:solidFill>
          <a:ln>
            <a:solidFill>
              <a:srgbClr val="36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205740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</a:defRPr>
            </a:pPr>
            <a:r>
              <a:t>5.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2743200"/>
            <a:ext cx="1691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1BFCF"/>
                </a:solidFill>
              </a:defRPr>
            </a:pPr>
            <a:r>
              <a:t>Meterpreter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617720"/>
            <a:ext cx="8046720" cy="8686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4617720"/>
            <a:ext cx="73152" cy="86868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58568" y="478231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CONTROL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5276088"/>
            <a:ext cx="768096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Exploitation was performed only against the authorized, intentionally vulnerable laboratory target.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Post-Exploitation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29000" cy="14173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417320"/>
          </a:xfrm>
          <a:prstGeom prst="rect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getuid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Server username: root</a:t>
            </a:r>
            <a:br/>
            <a:r>
              <a:t>Confirms the access level obtained.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429000" cy="14173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73152" cy="141732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sysinfo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Collects basic target/session system information for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429000" cy="14173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73152" cy="1417320"/>
          </a:xfrm>
          <a:prstGeom prst="rect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533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pwd + 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4708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Validates working directory and filesystem visibility.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154680"/>
            <a:ext cx="7315200" cy="15544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3160" y="3154680"/>
            <a:ext cx="73152" cy="155448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3319272"/>
            <a:ext cx="6949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3813048"/>
            <a:ext cx="6949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1BFCF"/>
                </a:solidFill>
                <a:latin typeface="Aptos"/>
              </a:defRPr>
            </a:pPr>
            <a:r>
              <a:t>Confirms the established Metasploit session remains available for controlled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Evidence demonstrates a complete root-level compromise of the authorized Metasploitable2 target.</a:t>
            </a:r>
          </a:p>
          <a:p>
            <a:pPr>
              <a:spcAft>
                <a:spcPts val="11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No destructive activity, persistence, data exfiltration or denial-of-service testing was performed.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CVSS v3.1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3749039" cy="36118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73152" cy="3611880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07592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PRIMARY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01368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1BFCF"/>
                </a:solidFill>
                <a:latin typeface="Aptos"/>
              </a:defRPr>
            </a:pPr>
            <a:r>
              <a:t>vsFTPd 2.3.4 Backdoor</a:t>
            </a:r>
            <a:br/>
            <a:br/>
            <a:r>
              <a:t>CVE-2011-2523</a:t>
            </a:r>
            <a:br/>
            <a:br/>
            <a:r>
              <a:t>CVSS v3.1: 9.8</a:t>
            </a:r>
            <a:br/>
            <a:br/>
            <a:r>
              <a:t>Severity: CRITICAL</a:t>
            </a:r>
            <a:br/>
            <a:br/>
            <a:r>
              <a:t>Exploit status: Successfully validated</a:t>
            </a:r>
            <a:br/>
            <a:r>
              <a:t>Access level: Root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43000"/>
            <a:ext cx="6583680" cy="155448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143000"/>
            <a:ext cx="73152" cy="155448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30759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RISK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801368"/>
            <a:ext cx="6217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1BFCF"/>
                </a:solidFill>
                <a:latin typeface="Aptos"/>
              </a:defRPr>
            </a:pPr>
            <a:r>
              <a:t>The confirmed finding represents a critical security risk because the validated exploitation path resulted in root-level access to the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926080"/>
            <a:ext cx="6583680" cy="182880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926080"/>
            <a:ext cx="73152" cy="182880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09067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3584448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1BFCF"/>
                </a:solidFill>
                <a:latin typeface="Aptos"/>
              </a:defRPr>
            </a:pPr>
            <a:r>
              <a:t>Remediation should receive the highest priority within the assessment. Additional scanner findings should be reviewed, remediated according to priority, and re-tested.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Remediation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10561320" cy="896112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73152" cy="896112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0759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Remove /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01368"/>
            <a:ext cx="1019556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Remove the vulnerable vsFTPd 2.3.4 installation or upgrade to a supported secure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0561320" cy="896112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86000"/>
            <a:ext cx="73152" cy="896112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45059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Reduce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44368"/>
            <a:ext cx="1019556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Disable unnecessary FTP services and restrict network access with appropriate firewall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29000"/>
            <a:ext cx="10561320" cy="896112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429000"/>
            <a:ext cx="73152" cy="896112"/>
          </a:xfrm>
          <a:prstGeom prst="rect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59359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Harden the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87368"/>
            <a:ext cx="1019556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Apply segmentation, monitoring and supported security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10561320" cy="896112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572000"/>
            <a:ext cx="73152" cy="896112"/>
          </a:xfrm>
          <a:prstGeom prst="rect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3659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Retest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230368"/>
            <a:ext cx="1019556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1BFCF"/>
                </a:solidFill>
                <a:latin typeface="Aptos"/>
              </a:defRPr>
            </a:pPr>
            <a:r>
              <a:t>Repeat Nmap service/version and vulnerability scans; compare before/after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Evidence &amp; Submission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10561320" cy="822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097280"/>
            <a:ext cx="73152" cy="82296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26187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EVIDENCE SET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5564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01–02: Lab/network configuration and target reachability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76272"/>
            <a:ext cx="10561320" cy="822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76272"/>
            <a:ext cx="73152" cy="822960"/>
          </a:xfrm>
          <a:prstGeom prst="rect">
            <a:avLst/>
          </a:prstGeom>
          <a:solidFill>
            <a:srgbClr val="1C6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340864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EVIDENCE SET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834639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03–05: Nmap reconnaissance, saved scan output and vulnerability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55263"/>
            <a:ext cx="10561320" cy="822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55263"/>
            <a:ext cx="73152" cy="822960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419856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EVIDENCE SET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913631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06–08: Metasploit module configuration, vulnerability check and successful Meterpreter exploitation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34256"/>
            <a:ext cx="10561320" cy="82296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334256"/>
            <a:ext cx="73152" cy="822960"/>
          </a:xfrm>
          <a:prstGeom prst="rect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498848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EVIDENCE SET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992624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B1BFCF"/>
                </a:solidFill>
                <a:latin typeface="Aptos"/>
              </a:defRPr>
            </a:pPr>
            <a:r>
              <a:t>09–12: Root verification, system information, filesystem validation and active session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532120"/>
            <a:ext cx="8503920" cy="50292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5532120"/>
            <a:ext cx="73152" cy="502920"/>
          </a:xfrm>
          <a:prstGeom prst="rect">
            <a:avLst/>
          </a:prstGeom>
          <a:solidFill>
            <a:srgbClr val="D2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56967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6190488"/>
            <a:ext cx="8138160" cy="-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1BFCF"/>
                </a:solidFill>
                <a:latin typeface="Aptos"/>
              </a:defRPr>
            </a:pPr>
            <a:r>
              <a:t>Final report + 12 required screenshots + scan outputs + supporting documentation + presentation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29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1BFC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383280" cy="192024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1920240"/>
          </a:xfrm>
          <a:prstGeom prst="rect">
            <a:avLst/>
          </a:prstGeom>
          <a:solidFill>
            <a:srgbClr val="2C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WHAT WAS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9280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1BFCF"/>
                </a:solidFill>
                <a:latin typeface="Aptos"/>
              </a:defRPr>
            </a:pPr>
            <a:r>
              <a:t>Reachability → reconnaissance → vulnerability identification → controlled exploitation → post-exploitation verification → risk assessment → remediation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83280" cy="192024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920240"/>
          </a:xfrm>
          <a:prstGeom prst="rect">
            <a:avLst/>
          </a:prstGeom>
          <a:solidFill>
            <a:srgbClr val="C4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PRIMARY SECURITY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1BFCF"/>
                </a:solidFill>
                <a:latin typeface="Aptos"/>
              </a:defRPr>
            </a:pPr>
            <a:r>
              <a:t>vsFTPd 2.3.4 backdoor was successfully exploited in the authorized lab, resulting in a Meterpreter session verified as root.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383280" cy="1920240"/>
          </a:xfrm>
          <a:prstGeom prst="roundRect">
            <a:avLst/>
          </a:prstGeom>
          <a:solidFill>
            <a:srgbClr val="141D2A"/>
          </a:solidFill>
          <a:ln>
            <a:solidFill>
              <a:srgbClr val="3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234440"/>
            <a:ext cx="73152" cy="1920240"/>
          </a:xfrm>
          <a:prstGeom prst="rect">
            <a:avLst/>
          </a:prstGeom>
          <a:solidFill>
            <a:srgbClr val="36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 Display"/>
              </a:defRPr>
            </a:pPr>
            <a:r>
              <a:t>NEXT SECURITY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89280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1BFCF"/>
                </a:solidFill>
                <a:latin typeface="Aptos"/>
              </a:defRPr>
            </a:pPr>
            <a:r>
              <a:t>Remediate critical and additional findings, repeat scans, compare results and record remediation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assessment demonstrates the core lifecycle of a VAPT engagement in a controlled training environment.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Findings from automated scanning should be manually verified before being treated as confirmed production risk.</a:t>
            </a:r>
          </a:p>
          <a:p>
            <a:pPr>
              <a:spcAft>
                <a:spcPts val="11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All activities remained within the authorized laboratory scope.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CB8C6"/>
                </a:solidFill>
                <a:latin typeface="Aptos"/>
              </a:defRPr>
            </a:pPr>
            <a:r>
              <a:t>Task 5 — Advanced VAPT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NovaShyld Technologies</a:t>
            </a:r>
          </a:p>
          <a:p>
            <a:pPr algn="ctr">
              <a:defRPr sz="1400" b="0">
                <a:solidFill>
                  <a:srgbClr val="B1BFCF"/>
                </a:solidFill>
                <a:latin typeface="Aptos"/>
              </a:defRPr>
            </a:pPr>
            <a:r>
              <a:t>Cybersecurity Analyst Internship Program</a:t>
            </a:r>
          </a:p>
          <a:p>
            <a:pPr algn="ctr">
              <a:defRPr sz="1400" b="0">
                <a:solidFill>
                  <a:srgbClr val="B1BFCF"/>
                </a:solidFill>
                <a:latin typeface="Aptos"/>
              </a:defRPr>
            </a:pPr>
            <a:r>
              <a:t>Authorized laboratory target: Metasploitable2 — 192.168.195.133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37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1BFCF"/>
                </a:solidFill>
                <a:latin typeface="Aptos"/>
              </a:defRPr>
            </a:pPr>
            <a:r>
              <a:t>NOVASHYLD TECHNOLOGIES  |  TASK 5 — ADVANCED VAPT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C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